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a33b3359044605" /><Relationship Type="http://schemas.openxmlformats.org/officeDocument/2006/relationships/extended-properties" Target="/docProps/app.xml" Id="R2d6c482f8f614149" /><Relationship Type="http://schemas.openxmlformats.org/officeDocument/2006/relationships/officeDocument" Target="/ppt/presentation.xml" Id="R1c4dac8547a344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38006ce221455c"/>
  </p:sldMasterIdLst>
  <p:notesMasterIdLst>
    <p:notesMasterId xmlns:r="http://schemas.openxmlformats.org/officeDocument/2006/relationships" r:id="R886e6fe863f940e0"/>
  </p:notesMasterIdLst>
  <p:sldIdLst>
    <p:sldId xmlns:r="http://schemas.openxmlformats.org/officeDocument/2006/relationships" id="256" r:id="Rfeb9fb2bdd5644d6"/>
    <p:sldId xmlns:r="http://schemas.openxmlformats.org/officeDocument/2006/relationships" id="257" r:id="R11edfc5827db43b3"/>
    <p:sldId xmlns:r="http://schemas.openxmlformats.org/officeDocument/2006/relationships" id="258" r:id="R3cbb6834020042dc"/>
    <p:sldId xmlns:r="http://schemas.openxmlformats.org/officeDocument/2006/relationships" id="259" r:id="R9fb49e9823bc4623"/>
    <p:sldId xmlns:r="http://schemas.openxmlformats.org/officeDocument/2006/relationships" id="260" r:id="R11abd663d17b4694"/>
    <p:sldId xmlns:r="http://schemas.openxmlformats.org/officeDocument/2006/relationships" id="261" r:id="R53979bd08fb34109"/>
    <p:sldId xmlns:r="http://schemas.openxmlformats.org/officeDocument/2006/relationships" id="262" r:id="Rb03b168ec9b04b56"/>
    <p:sldId xmlns:r="http://schemas.openxmlformats.org/officeDocument/2006/relationships" id="263" r:id="Re5515f98eb9f4c04"/>
    <p:sldId xmlns:r="http://schemas.openxmlformats.org/officeDocument/2006/relationships" id="264" r:id="R80854f40fef2448a"/>
    <p:sldId xmlns:r="http://schemas.openxmlformats.org/officeDocument/2006/relationships" id="265" r:id="R181dd1198c3947de"/>
    <p:sldId xmlns:r="http://schemas.openxmlformats.org/officeDocument/2006/relationships" id="266" r:id="R8d1569bb885e45b6"/>
    <p:sldId xmlns:r="http://schemas.openxmlformats.org/officeDocument/2006/relationships" id="267" r:id="Ra16b4ff972b04b4b"/>
    <p:sldId xmlns:r="http://schemas.openxmlformats.org/officeDocument/2006/relationships" id="268" r:id="Rbe8ad95a8352424b"/>
    <p:sldId xmlns:r="http://schemas.openxmlformats.org/officeDocument/2006/relationships" id="269" r:id="Red74e506613c43d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d6019b67b64e51" /><Relationship Type="http://schemas.openxmlformats.org/officeDocument/2006/relationships/slideMaster" Target="/ppt/slideMasters/slideMaster1.xml" Id="Rab38006ce221455c" /><Relationship Type="http://schemas.openxmlformats.org/officeDocument/2006/relationships/notesMaster" Target="/ppt/notesMasters/notesMaster1.xml" Id="R886e6fe863f940e0" /><Relationship Type="http://schemas.openxmlformats.org/officeDocument/2006/relationships/presProps" Target="/ppt/presProps.xml" Id="Rbabcddac33c94083" /><Relationship Type="http://schemas.openxmlformats.org/officeDocument/2006/relationships/tableStyles" Target="/ppt/tableStyles.xml" Id="R9a3890d61a94499a" /><Relationship Type="http://schemas.openxmlformats.org/officeDocument/2006/relationships/slide" Target="/ppt/slides/slide1.xml" Id="Rfeb9fb2bdd5644d6" /><Relationship Type="http://schemas.openxmlformats.org/officeDocument/2006/relationships/slide" Target="/ppt/slides/slide2.xml" Id="R11edfc5827db43b3" /><Relationship Type="http://schemas.openxmlformats.org/officeDocument/2006/relationships/slide" Target="/ppt/slides/slide3.xml" Id="R3cbb6834020042dc" /><Relationship Type="http://schemas.openxmlformats.org/officeDocument/2006/relationships/slide" Target="/ppt/slides/slide4.xml" Id="R9fb49e9823bc4623" /><Relationship Type="http://schemas.openxmlformats.org/officeDocument/2006/relationships/slide" Target="/ppt/slides/slide5.xml" Id="R11abd663d17b4694" /><Relationship Type="http://schemas.openxmlformats.org/officeDocument/2006/relationships/slide" Target="/ppt/slides/slide6.xml" Id="R53979bd08fb34109" /><Relationship Type="http://schemas.openxmlformats.org/officeDocument/2006/relationships/slide" Target="/ppt/slides/slide7.xml" Id="Rb03b168ec9b04b56" /><Relationship Type="http://schemas.openxmlformats.org/officeDocument/2006/relationships/slide" Target="/ppt/slides/slide8.xml" Id="Re5515f98eb9f4c04" /><Relationship Type="http://schemas.openxmlformats.org/officeDocument/2006/relationships/slide" Target="/ppt/slides/slide9.xml" Id="R80854f40fef2448a" /><Relationship Type="http://schemas.openxmlformats.org/officeDocument/2006/relationships/slide" Target="/ppt/slides/slide10.xml" Id="R181dd1198c3947de" /><Relationship Type="http://schemas.openxmlformats.org/officeDocument/2006/relationships/slide" Target="/ppt/slides/slide11.xml" Id="R8d1569bb885e45b6" /><Relationship Type="http://schemas.openxmlformats.org/officeDocument/2006/relationships/slide" Target="/ppt/slides/slide12.xml" Id="Ra16b4ff972b04b4b" /><Relationship Type="http://schemas.openxmlformats.org/officeDocument/2006/relationships/slide" Target="/ppt/slides/slide13.xml" Id="Rbe8ad95a8352424b" /><Relationship Type="http://schemas.openxmlformats.org/officeDocument/2006/relationships/slide" Target="/ppt/slides/slide14.xml" Id="Red74e506613c43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d98f94e32b4b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046c4129cd4e75" /><Relationship Type="http://schemas.openxmlformats.org/officeDocument/2006/relationships/notesMaster" Target="/ppt/notesMasters/notesMaster1.xml" Id="R40b2289a1e1d4c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7c70d84f154861" /><Relationship Type="http://schemas.openxmlformats.org/officeDocument/2006/relationships/notesMaster" Target="/ppt/notesMasters/notesMaster1.xml" Id="Rf13247071ca642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078b257af84cf6" /><Relationship Type="http://schemas.openxmlformats.org/officeDocument/2006/relationships/notesMaster" Target="/ppt/notesMasters/notesMaster1.xml" Id="Rc2740989f2a840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b5713998a24e2b" /><Relationship Type="http://schemas.openxmlformats.org/officeDocument/2006/relationships/notesMaster" Target="/ppt/notesMasters/notesMaster1.xml" Id="R5ee429a3f49d4e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12fee6766743a0" /><Relationship Type="http://schemas.openxmlformats.org/officeDocument/2006/relationships/notesMaster" Target="/ppt/notesMasters/notesMaster1.xml" Id="R1245936343f040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6fedc32c794515" /><Relationship Type="http://schemas.openxmlformats.org/officeDocument/2006/relationships/notesMaster" Target="/ppt/notesMasters/notesMaster1.xml" Id="Rdf800871aac542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24ef5d28e1439d" /><Relationship Type="http://schemas.openxmlformats.org/officeDocument/2006/relationships/notesMaster" Target="/ppt/notesMasters/notesMaster1.xml" Id="R347e279e063348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3e9bbcbef3849db" /><Relationship Type="http://schemas.openxmlformats.org/officeDocument/2006/relationships/notesMaster" Target="/ppt/notesMasters/notesMaster1.xml" Id="Rb9596af235e94a9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36bdf204d324691" /><Relationship Type="http://schemas.openxmlformats.org/officeDocument/2006/relationships/notesMaster" Target="/ppt/notesMasters/notesMaster1.xml" Id="R5f3b092a0c6d42f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1121e43b83145ac" /><Relationship Type="http://schemas.openxmlformats.org/officeDocument/2006/relationships/notesMaster" Target="/ppt/notesMasters/notesMaster1.xml" Id="R3ae6b5b5ade74bb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a28b81c14b343a8" /><Relationship Type="http://schemas.openxmlformats.org/officeDocument/2006/relationships/notesMaster" Target="/ppt/notesMasters/notesMaster1.xml" Id="R25739efc8ea340f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bcd48f50ff24d7b" /><Relationship Type="http://schemas.openxmlformats.org/officeDocument/2006/relationships/notesMaster" Target="/ppt/notesMasters/notesMaster1.xml" Id="R5d8e2587f080495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b2b9bc43fbd4074" /><Relationship Type="http://schemas.openxmlformats.org/officeDocument/2006/relationships/notesMaster" Target="/ppt/notesMasters/notesMaster1.xml" Id="Rf2dffd05852a4aa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3b8b25d14774fb4" /><Relationship Type="http://schemas.openxmlformats.org/officeDocument/2006/relationships/notesMaster" Target="/ppt/notesMasters/notesMaster1.xml" Id="Ra0b71d6c8d9442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Course: Programming for IoT Boards. Authors: Rishit Chaudhary 23BCT0157 and Siddharth Verma 23BCT0159. Faculty: Dr. Syamasudha Veeragandham. Photograph: project-owned prototype assembly from the supplied paper. No physical outcome is claimed. https://github.com/rizzit17/SmartAgri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https://doi.org/10.3390/s18082674; https://doi.org/10.3390/iot4030012. Proposed project scope, not measured farmer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SmartAgri proposal objectives. Sources: Review-1 draft and the project specification.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https://doi.org/10.3390/agriculture14081256</a:t>
            </a:r>
          </a:p>
          <a:p xmlns:a="http://schemas.openxmlformats.org/drawingml/2006/main">
            <a:r>
              <a:t>Q1 verification: https://www.mdpi.com/about/announcements/12506</a:t>
            </a:r>
          </a:p>
          <a:p xmlns:a="http://schemas.openxmlformats.org/drawingml/2006/main">
            <a:r>
              <a:t>Agriculture 2024 JCR metrics: Agronomy Q1, 19/129, publisher announcement 3 July 2025. The original PDF retains its authors and licence. Its findings are not SmartAgri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Pereira et al. 2023: https://doi.org/10.3390/iot4030012</a:t>
            </a:r>
          </a:p>
          <a:p xmlns:a="http://schemas.openxmlformats.org/drawingml/2006/main">
            <a:r>
              <a:t>Senapaty et al. 2024: https://doi.org/10.3390/agriculture14081256</a:t>
            </a:r>
          </a:p>
          <a:p xmlns:a="http://schemas.openxmlformats.org/drawingml/2006/main">
            <a:r>
              <a:t>Wijayakusuma et al. 2025: https://doi.org/10.1016/j.ohx.2025.e00724</a:t>
            </a:r>
          </a:p>
          <a:p xmlns:a="http://schemas.openxmlformats.org/drawingml/2006/main">
            <a:r>
              <a:t>Cartolano et al. 2024: https://doi.org/10.1007/s11042-023-17978-z</a:t>
            </a:r>
          </a:p>
          <a:p xmlns:a="http://schemas.openxmlformats.org/drawingml/2006/main">
            <a:r>
              <a:t>The table summarizes scope; no prior-work percentages are adopted as project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https://doi.org/10.3390/agriculture14081256; https://doi.org/10.1016/j.ohx.2025.e00724; https://doi.org/10.1007/s11042-023-17978-z. These are gaps in the present prototype's evidence, not claims that the capabilities are absent from all prior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architecture from the corrected paper. Asset: work/corrected_image1.png. Wokwi uses broker.hivemq.com:1883 and smartagri/23bct0157/demo-v1/data; the legacy collector defaults to TLS 8883. Browser replay uses a separate transport surrogate. https://github.com/rizzit17/SmartAgri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pin mapping and supplied physical photo. DHT11 physical assembly is distinct from the Wokwi DHT22 model. The LED is a logical pump surrogate. Source: wokwi/diagram.json and sketch.ino.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simulator/engine.py, wokwi/controller.h and Appendix A of the final paper. The constants are controller design choices, not crop-specific irrigation prescriptions.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Application reference: dashboard.py. Asset: docs/screenshots/dashboard-login.png. Current interface illustrates the proposed application layer. Local accounts are prototype authentication. No usability study or agronomic validation is claimed. https://github.com/rizzit17/SmartAgri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functional evaluation plan. The completed results and raw records are supplied separately in the final paper and implementation for Reviews 2 and 3. Deterministic checks are not independent field trials.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 boundary, consistent with the final research paper. No affordability, water-saving, yield or SHAP result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Prepared for submission now. This slide does not assert that earlier deadlines or prior reviews were completed on time. Requirements supplied by the course notice.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https://doi.org/10.3390/agriculture14081256</a:t>
            </a:r>
          </a:p>
          <a:p xmlns:a="http://schemas.openxmlformats.org/drawingml/2006/main">
            <a:r>
              <a:t>https://www.mdpi.com/about/announcements/12506</a:t>
            </a:r>
          </a:p>
          <a:p xmlns:a="http://schemas.openxmlformats.org/drawingml/2006/main">
            <a:r>
              <a:t>https://doi.org/10.3390/iot4030012</a:t>
            </a:r>
          </a:p>
          <a:p xmlns:a="http://schemas.openxmlformats.org/drawingml/2006/main">
            <a:r>
              <a:t>https://doi.org/10.1016/j.ohx.2025.e00724</a:t>
            </a:r>
          </a:p>
          <a:p xmlns:a="http://schemas.openxmlformats.org/drawingml/2006/main">
            <a:r>
              <a:t>https://doi.org/10.1007/s11042-023-17978-z</a:t>
            </a:r>
          </a:p>
          <a:p xmlns:a="http://schemas.openxmlformats.org/drawingml/2006/main">
            <a:r>
              <a:t>https://doi.org/10.3390/s18082674</a:t>
            </a:r>
          </a:p>
          <a:p xmlns:a="http://schemas.openxmlformats.org/drawingml/2006/main">
            <a:r>
              <a:t>https://github.com/rizzit17/SmartAgri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fcf7bf1fed41a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71f65356124d0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33f56a09b8469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55ddd623a244c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4876eca4944a1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139f7cee3b4a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E706A1-2240-4364-83BD-DE318BF2BE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1207D48-D75A-491B-B8C7-45FB4C96376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7E2977A-8269-40E0-BA13-92C31DD8F1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C3CC441-3C8F-471D-B030-8212529AC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D1E644F-A5D4-4951-8916-F232FA4F20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0CB3FDB-82BB-4CEC-8D55-778C9FD210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465C957-2084-4F91-B4DC-5CAE09C46D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F783F7A-2536-41EB-AE95-B37E195952E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177160F-F3A7-4437-A638-44F79A3BC5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FABA968-DBC8-4F5D-8B92-95F0A7817C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4c1c266be54b10" /><Relationship Type="http://schemas.openxmlformats.org/officeDocument/2006/relationships/slideLayout" Target="/ppt/slideLayouts/slideLayout1.xml" Id="R5484bfe4ee45447e" /><Relationship Type="http://schemas.openxmlformats.org/officeDocument/2006/relationships/slideLayout" Target="/ppt/slideLayouts/slideLayout2.xml" Id="R465c3a3567a441f6" /><Relationship Type="http://schemas.openxmlformats.org/officeDocument/2006/relationships/slideLayout" Target="/ppt/slideLayouts/slideLayout3.xml" Id="Rdffc20676b1c42a3" /><Relationship Type="http://schemas.openxmlformats.org/officeDocument/2006/relationships/slideLayout" Target="/ppt/slideLayouts/slideLayout4.xml" Id="Reda00b7ddcba443e" /><Relationship Type="http://schemas.openxmlformats.org/officeDocument/2006/relationships/slideLayout" Target="/ppt/slideLayouts/slideLayout5.xml" Id="R8a0015af31ae4754" /><Relationship Type="http://schemas.openxmlformats.org/officeDocument/2006/relationships/slideLayout" Target="/ppt/slideLayouts/slideLayout6.xml" Id="R1bf8c552affa46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84bfe4ee45447e"/>
    <p:sldLayoutId xmlns:r="http://schemas.openxmlformats.org/officeDocument/2006/relationships" id="2147483650" r:id="R465c3a3567a441f6"/>
    <p:sldLayoutId xmlns:r="http://schemas.openxmlformats.org/officeDocument/2006/relationships" id="2147483651" r:id="Rdffc20676b1c42a3"/>
    <p:sldLayoutId xmlns:r="http://schemas.openxmlformats.org/officeDocument/2006/relationships" id="2147483652" r:id="Reda00b7ddcba443e"/>
    <p:sldLayoutId xmlns:r="http://schemas.openxmlformats.org/officeDocument/2006/relationships" id="2147483653" r:id="R8a0015af31ae4754"/>
    <p:sldLayoutId xmlns:r="http://schemas.openxmlformats.org/officeDocument/2006/relationships" id="2147483654" r:id="R1bf8c552affa46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d34fb59053428e" /><Relationship Type="http://schemas.openxmlformats.org/officeDocument/2006/relationships/image" Target="/ppt/media/image.jpeg" Id="R43031242d3834fb3" /><Relationship Type="http://schemas.openxmlformats.org/officeDocument/2006/relationships/notesSlide" Target="/ppt/notesSlides/notesSlide1.xml" Id="Rccf695f7fa2742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a1f7a65f3241fc" /><Relationship Type="http://schemas.openxmlformats.org/officeDocument/2006/relationships/notesSlide" Target="/ppt/notesSlides/notesSlide2.xml" Id="R6094be02d67a49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2ec216851a44e2" /><Relationship Type="http://schemas.openxmlformats.org/officeDocument/2006/relationships/notesSlide" Target="/ppt/notesSlides/notesSlide3.xml" Id="Rfbf481a4b52b49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eda7693f2046c9" /><Relationship Type="http://schemas.openxmlformats.org/officeDocument/2006/relationships/image" Target="/ppt/media/image.png" Id="R664b347d3b7f40ef" /><Relationship Type="http://schemas.openxmlformats.org/officeDocument/2006/relationships/notesSlide" Target="/ppt/notesSlides/notesSlide4.xml" Id="Rc8a2e1f649ea40b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af674c90334499" /><Relationship Type="http://schemas.openxmlformats.org/officeDocument/2006/relationships/notesSlide" Target="/ppt/notesSlides/notesSlide5.xml" Id="R52a8adc4fc3b47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a3de4868df4b20" /><Relationship Type="http://schemas.openxmlformats.org/officeDocument/2006/relationships/notesSlide" Target="/ppt/notesSlides/notesSlide6.xml" Id="R1ed0181f82f64a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66f7ca97f7473a" /><Relationship Type="http://schemas.openxmlformats.org/officeDocument/2006/relationships/image" Target="/ppt/media/image2.png" Id="R28ec3d11dee3413b" /><Relationship Type="http://schemas.openxmlformats.org/officeDocument/2006/relationships/notesSlide" Target="/ppt/notesSlides/notesSlide7.xml" Id="Ra26d31201d6241c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7681a01de842e7" /><Relationship Type="http://schemas.openxmlformats.org/officeDocument/2006/relationships/image" Target="/ppt/media/image3.png" Id="R845f298001af4710" /><Relationship Type="http://schemas.openxmlformats.org/officeDocument/2006/relationships/notesSlide" Target="/ppt/notesSlides/notesSlide8.xml" Id="Rfcecb03f44544a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97988ab7454132" /><Relationship Type="http://schemas.openxmlformats.org/officeDocument/2006/relationships/notesSlide" Target="/ppt/notesSlides/notesSlide9.xml" Id="Rdfc4e5ed90da470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6e211712374a88" /><Relationship Type="http://schemas.openxmlformats.org/officeDocument/2006/relationships/image" Target="/ppt/media/image2.jpeg" Id="Rdfffda562dfb42e3" /><Relationship Type="http://schemas.openxmlformats.org/officeDocument/2006/relationships/notesSlide" Target="/ppt/notesSlides/notesSlide10.xml" Id="R070455ef79964b2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38a96ac45c489a" /><Relationship Type="http://schemas.openxmlformats.org/officeDocument/2006/relationships/notesSlide" Target="/ppt/notesSlides/notesSlide11.xml" Id="R641af7f472e9431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ee867149484ef5" /><Relationship Type="http://schemas.openxmlformats.org/officeDocument/2006/relationships/notesSlide" Target="/ppt/notesSlides/notesSlide12.xml" Id="R8e2eb519ad714b7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117557be5d43cd" /><Relationship Type="http://schemas.openxmlformats.org/officeDocument/2006/relationships/notesSlide" Target="/ppt/notesSlides/notesSlide13.xml" Id="R2536a682a29c4bc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7aa501176a4eba" /><Relationship Type="http://schemas.openxmlformats.org/officeDocument/2006/relationships/notesSlide" Target="/ppt/notesSlides/notesSlide14.xml" Id="R454750fb366f4f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E11B4D-BFAB-40C3-8265-2B381950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C30"/>
                </a:solidFill>
                <a:latin typeface="Arial"/>
                <a:ea typeface="Arial"/>
                <a:cs typeface="Arial"/>
              </a:rPr>
              <a:t>SmartAgri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8709AC-BA4E-4C22-A800-B20E1023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356"/>
                </a:solidFill>
                <a:latin typeface="Arial"/>
                <a:ea typeface="Arial"/>
                <a:cs typeface="Arial"/>
              </a:rPr>
              <a:t>SmartAgri  /  Project Review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1992F5-B1C5-4EC0-AD68-5BFED1C5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35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392A7B-6BE5-4E13-9488-CA6D85CB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6572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33C30"/>
                </a:solidFill>
                <a:latin typeface="Arial"/>
                <a:ea typeface="Arial"/>
                <a:cs typeface="Arial"/>
              </a:rPr>
              <a:t>AI enabled smart agriculture</a:t>
            </a:r>
          </a:p>
          <a:p xmlns:a="http://schemas.openxmlformats.org/drawingml/2006/main">
            <a:pPr algn="l">
              <a:defRPr sz="39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33C30"/>
                </a:solidFill>
                <a:latin typeface="Arial"/>
                <a:ea typeface="Arial"/>
                <a:cs typeface="Arial"/>
              </a:rPr>
              <a:t>using IoT and MQTT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DF8B61-7035-4E61-9784-B27289D5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647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C30"/>
                </a:solidFill>
                <a:latin typeface="Arial"/>
                <a:ea typeface="Arial"/>
                <a:cs typeface="Arial"/>
              </a:rPr>
              <a:t>Fuzzy irrigation control and</a:t>
            </a:r>
          </a:p>
          <a:p xmlns:a="http://schemas.openxmlformats.org/drawingml/2006/main">
            <a:pPr algn="l">
              <a:defRPr sz="225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C30"/>
                </a:solidFill>
                <a:latin typeface="Arial"/>
                <a:ea typeface="Arial"/>
                <a:cs typeface="Arial"/>
              </a:rPr>
              <a:t>exploratory crop recommendation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FD06BE-B5D5-42B0-B1E5-265E34F1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638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C30"/>
                </a:solidFill>
                <a:latin typeface="Arial"/>
                <a:ea typeface="Arial"/>
                <a:cs typeface="Arial"/>
              </a:rPr>
              <a:t>Rishit Chaudhary  23BCT0157</a:t>
            </a:r>
          </a:p>
          <a:p xmlns:a="http://schemas.openxmlformats.org/drawingml/2006/main">
            <a:pPr algn="l">
              <a:defRPr sz="18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C30"/>
                </a:solidFill>
                <a:latin typeface="Arial"/>
                <a:ea typeface="Arial"/>
                <a:cs typeface="Arial"/>
              </a:rPr>
              <a:t>Siddharth Verma  23BCT0159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24E9D7-85E5-4BE8-8F55-C785858DAC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031242d3834fb3"/>
          <a:stretch xmlns:a="http://schemas.openxmlformats.org/drawingml/2006/main"/>
        </p:blipFill>
        <p:spPr>
          <a:xfrm xmlns:a="http://schemas.openxmlformats.org/drawingml/2006/main">
            <a:off x="7953375" y="1747093"/>
            <a:ext cx="3143250" cy="361146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558F25-5387-42C2-AC37-04407E7E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638800"/>
            <a:ext cx="357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356"/>
                </a:solidFill>
                <a:latin typeface="Arial"/>
                <a:ea typeface="Arial"/>
                <a:cs typeface="Arial"/>
              </a:rPr>
              <a:t>Prototype assembly</a:t>
            </a:r>
          </a:p>
          <a:p xmlns:a="http://schemas.openxmlformats.org/drawingml/2006/main">
            <a:pPr algn="l">
              <a:defRPr sz="1275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356"/>
                </a:solidFill>
                <a:latin typeface="Arial"/>
                <a:ea typeface="Arial"/>
                <a:cs typeface="Arial"/>
              </a:rPr>
              <a:t>Reported operational evidence uses simulation</a:t>
            </a:r>
          </a:p>
        </p:txBody>
      </p:sp>
    </p:spTree>
    <p:extLst>
      <p:ext uri="{BB962C8B-B14F-4D97-AF65-F5344CB8AC3E}">
        <p14:creationId xmlns:p14="http://schemas.microsoft.com/office/powerpoint/2010/main" val="14518947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0D57FB-5CAF-43CD-82C2-377F0518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C30"/>
                </a:solidFill>
                <a:latin typeface="Arial"/>
                <a:ea typeface="Arial"/>
                <a:cs typeface="Arial"/>
              </a:rPr>
              <a:t>Problem and motivation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AE180B-4825-4456-8149-29A21D01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356"/>
                </a:solidFill>
                <a:latin typeface="Arial"/>
                <a:ea typeface="Arial"/>
                <a:cs typeface="Arial"/>
              </a:rPr>
              <a:t>SmartAgri  /  Project Review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1E9C76-347A-4FFD-A870-6E075408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35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3D0403-5B88-4B35-9434-D8C8D3A8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33C30"/>
                </a:solidFill>
                <a:latin typeface="Arial"/>
                <a:ea typeface="Arial"/>
                <a:cs typeface="Arial"/>
              </a:rPr>
              <a:t>Environmental readings need a consistent path from sensing to an interpretable interface.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3CE474-BA91-4795-9480-DA0A7693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81275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33C30"/>
                </a:solidFill>
                <a:latin typeface="Arial"/>
                <a:ea typeface="Arial"/>
                <a:cs typeface="Arial"/>
              </a:rPr>
              <a:t>A local controller should expose its output during faults and telemetry interruptions.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416311-A19E-4D08-932D-F23B4605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86175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33C30"/>
                </a:solidFill>
                <a:latin typeface="Arial"/>
                <a:ea typeface="Arial"/>
                <a:cs typeface="Arial"/>
              </a:rPr>
              <a:t>Crop-model scores need separate evaluation because public training features differ from physical sensors.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90031D-7918-4AF2-8865-E7A748DF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33C30"/>
                </a:solidFill>
                <a:latin typeface="Arial"/>
                <a:ea typeface="Arial"/>
                <a:cs typeface="Arial"/>
              </a:rPr>
              <a:t>The project will make rules, inputs and test evidence reproducible.</a:t>
            </a:r>
          </a:p>
        </p:txBody>
      </p:sp>
    </p:spTree>
    <p:extLst>
      <p:ext uri="{BB962C8B-B14F-4D97-AF65-F5344CB8AC3E}">
        <p14:creationId xmlns:p14="http://schemas.microsoft.com/office/powerpoint/2010/main" val="14385923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D995B9-0980-49E6-83F4-FC2C95A2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C30"/>
                </a:solidFill>
                <a:latin typeface="Arial"/>
                <a:ea typeface="Arial"/>
                <a:cs typeface="Arial"/>
              </a:rPr>
              <a:t>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3BE194-D05F-4457-BFE6-3BBF7CF0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356"/>
                </a:solidFill>
                <a:latin typeface="Arial"/>
                <a:ea typeface="Arial"/>
                <a:cs typeface="Arial"/>
              </a:rPr>
              <a:t>SmartAgri  /  Project Review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2E3073-BCF1-4333-966A-F3998CBA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35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194DCA-8837-44B0-B4DE-23EDB3A4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33C30"/>
                </a:solidFill>
                <a:latin typeface="Arial"/>
                <a:ea typeface="Arial"/>
                <a:cs typeface="Arial"/>
              </a:rPr>
              <a:t>01  Specify sensor types, units, pin assignments and filtering.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D6648D-41CF-4066-BF0A-DE970527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33C30"/>
                </a:solidFill>
                <a:latin typeface="Arial"/>
                <a:ea typeface="Arial"/>
                <a:cs typeface="Arial"/>
              </a:rPr>
              <a:t>02  Compare a complete fuzzy controller with a moisture-threshold reference on identical inputs.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1E5AA6-64F9-4A63-9976-62EC2003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33C30"/>
                </a:solidFill>
                <a:latin typeface="Arial"/>
                <a:ea typeface="Arial"/>
                <a:cs typeface="Arial"/>
              </a:rPr>
              <a:t>03  Demonstrate MQTT telemetry, dashboard accounts, history and reports.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DD2051-9038-43D3-BEC3-7E56DB29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33C30"/>
                </a:solidFill>
                <a:latin typeface="Arial"/>
                <a:ea typeface="Arial"/>
                <a:cs typeface="Arial"/>
              </a:rPr>
              <a:t>04  Archive boundary, fault, timer and outage tests, then evaluate crop labels on an untouched holdout.</a:t>
            </a:r>
          </a:p>
        </p:txBody>
      </p:sp>
    </p:spTree>
    <p:extLst>
      <p:ext uri="{BB962C8B-B14F-4D97-AF65-F5344CB8AC3E}">
        <p14:creationId xmlns:p14="http://schemas.microsoft.com/office/powerpoint/2010/main" val="11884314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D00B47-9E2B-457E-843B-10F74716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C30"/>
                </a:solidFill>
                <a:latin typeface="Arial"/>
                <a:ea typeface="Arial"/>
                <a:cs typeface="Arial"/>
              </a:rPr>
              <a:t>Selected Q1 base paper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F42923-DFBF-4D37-ACCC-91935D8E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356"/>
                </a:solidFill>
                <a:latin typeface="Arial"/>
                <a:ea typeface="Arial"/>
                <a:cs typeface="Arial"/>
              </a:rPr>
              <a:t>SmartAgri  /  Project Review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F15B94-D65E-4AAB-86BE-EDCB8909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35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E1473B-A3DE-4758-B9A2-8695F7CE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6572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33C30"/>
                </a:solidFill>
                <a:latin typeface="Arial"/>
                <a:ea typeface="Arial"/>
                <a:cs typeface="Arial"/>
              </a:rPr>
              <a:t>A Decision Support System for Crop Recommendation Using Machine Learning Classification Algorithms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ED93B5-67C4-4CB6-9E1F-B5591700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638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C30"/>
                </a:solidFill>
                <a:latin typeface="Arial"/>
                <a:ea typeface="Arial"/>
                <a:cs typeface="Arial"/>
              </a:rPr>
              <a:t>Senapaty, Ray and Padhy</a:t>
            </a:r>
          </a:p>
          <a:p xmlns:a="http://schemas.openxmlformats.org/drawingml/2006/main">
            <a:pPr algn="l">
              <a:defRPr sz="195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C30"/>
                </a:solidFill>
                <a:latin typeface="Arial"/>
                <a:ea typeface="Arial"/>
                <a:cs typeface="Arial"/>
              </a:rPr>
              <a:t>Agriculture 14(8), 1256 (2024)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94E6AF-BADD-4B1E-8A71-4E6B6B32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28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3C30"/>
                </a:solidFill>
                <a:latin typeface="Arial"/>
                <a:ea typeface="Arial"/>
                <a:cs typeface="Arial"/>
              </a:rPr>
              <a:t>Q1 in Agronomy</a:t>
            </a:r>
          </a:p>
          <a:p xmlns:a="http://schemas.openxmlformats.org/drawingml/2006/main">
            <a:pPr algn="l">
              <a:defRPr sz="21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3C30"/>
                </a:solidFill>
                <a:latin typeface="Arial"/>
                <a:ea typeface="Arial"/>
                <a:cs typeface="Arial"/>
              </a:rPr>
              <a:t>2024 JCR metrics, rank 19/129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FC9750-6184-4B3B-AA58-58BE2A8D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657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356"/>
                </a:solidFill>
                <a:latin typeface="Arial"/>
                <a:ea typeface="Arial"/>
                <a:cs typeface="Arial"/>
              </a:rPr>
              <a:t>DOI 10.3390/agriculture14081256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35F32A-4724-41B6-9E6A-200E5ED983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4b347d3b7f40ef"/>
          <a:stretch xmlns:a="http://schemas.openxmlformats.org/drawingml/2006/main"/>
        </p:blipFill>
        <p:spPr>
          <a:xfrm xmlns:a="http://schemas.openxmlformats.org/drawingml/2006/main">
            <a:off x="8087211" y="1381125"/>
            <a:ext cx="3151802" cy="4457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328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7CD97B-1ADB-4DC7-AD79-7EA8DE73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C30"/>
                </a:solidFill>
                <a:latin typeface="Arial"/>
                <a:ea typeface="Arial"/>
                <a:cs typeface="Arial"/>
              </a:rPr>
              <a:t>Literature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B9CAA2-D08F-4825-BD5D-89E1D11B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356"/>
                </a:solidFill>
                <a:latin typeface="Arial"/>
                <a:ea typeface="Arial"/>
                <a:cs typeface="Arial"/>
              </a:rPr>
              <a:t>SmartAgri  /  Project Review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599B80-1246-4BF6-8FF2-81175AC8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35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30E70-AB05-43C1-B5F9-B97F27D32747}"/>
              </a:ext>
            </a:extLst>
          </p:cNvPr>
          <p:cNvGraphicFramePr/>
          <p:nvPr/>
        </p:nvGraphicFramePr>
        <p:xfrm>
          <a:off xmlns:a="http://schemas.openxmlformats.org/drawingml/2006/main" x="685800" y="1562100"/>
          <a:ext xmlns:a="http://schemas.openxmlformats.org/drawingml/2006/main" cx="108204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4429125"/>
                <a:gridCol w="4629150"/>
              </a:tblGrid>
              <a:tr h="838200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Study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BD4C7"/>
                      </a:solidFill>
                      <a:prstDash val="solid"/>
                    </a:lnL>
                    <a:lnR w="9525">
                      <a:solidFill>
                        <a:srgbClr val="CBD4C7"/>
                      </a:solidFill>
                      <a:prstDash val="solid"/>
                    </a:lnR>
                    <a:lnT w="9525">
                      <a:solidFill>
                        <a:srgbClr val="CBD4C7"/>
                      </a:solidFill>
                      <a:prstDash val="solid"/>
                    </a:lnT>
                    <a:lnB w="9525">
                      <a:solidFill>
                        <a:srgbClr val="CBD4C7"/>
                      </a:solidFill>
                      <a:prstDash val="solid"/>
                    </a:lnB>
                    <a:solidFill>
                      <a:srgbClr val="233C30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Established contribution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4C7"/>
                      </a:solidFill>
                      <a:prstDash val="solid"/>
                    </a:lnR>
                    <a:lnT w="9525">
                      <a:solidFill>
                        <a:srgbClr val="CBD4C7"/>
                      </a:solidFill>
                      <a:prstDash val="solid"/>
                    </a:lnT>
                    <a:lnB w="9525">
                      <a:solidFill>
                        <a:srgbClr val="CBD4C7"/>
                      </a:solidFill>
                      <a:prstDash val="solid"/>
                    </a:lnB>
                    <a:solidFill>
                      <a:srgbClr val="233C30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Relation to this project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4C7"/>
                      </a:solidFill>
                      <a:prstDash val="solid"/>
                    </a:lnR>
                    <a:lnT w="9525">
                      <a:solidFill>
                        <a:srgbClr val="CBD4C7"/>
                      </a:solidFill>
                      <a:prstDash val="solid"/>
                    </a:lnT>
                    <a:lnB w="9525">
                      <a:solidFill>
                        <a:srgbClr val="CBD4C7"/>
                      </a:solidFill>
                      <a:prstDash val="solid"/>
                    </a:lnB>
                    <a:solidFill>
                      <a:srgbClr val="233C30"/>
                    </a:solidFill>
                  </a:tcPr>
                </a:tc>
              </a:tr>
              <a:tr h="838200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3C30"/>
                          </a:solidFill>
                          <a:latin typeface="Arial"/>
                          <a:ea typeface="Arial"/>
                          <a:cs typeface="Arial"/>
                        </a:rPr>
                        <a:t>Pereira</a:t>
                      </a:r>
                    </a:p>
                    <a:p>
                      <a:r>
                        <a:rPr sz="1800" b="0">
                          <a:solidFill>
                            <a:srgbClr val="233C30"/>
                          </a:solidFill>
                          <a:latin typeface="Arial"/>
                          <a:ea typeface="Arial"/>
                          <a:cs typeface="Arial"/>
                        </a:rPr>
                        <a:t>2023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BD4C7"/>
                      </a:solidFill>
                      <a:prstDash val="solid"/>
                    </a:lnL>
                    <a:lnR w="9525">
                      <a:solidFill>
                        <a:srgbClr val="CBD4C7"/>
                      </a:solidFill>
                      <a:prstDash val="solid"/>
                    </a:lnR>
                    <a:lnB w="9525">
                      <a:solidFill>
                        <a:srgbClr val="CBD4C7"/>
                      </a:solidFill>
                      <a:prstDash val="solid"/>
                    </a:lnB>
                    <a:solidFill>
                      <a:srgbClr val="F7F7EF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3C30"/>
                          </a:solidFill>
                          <a:latin typeface="Arial"/>
                          <a:ea typeface="Arial"/>
                          <a:cs typeface="Arial"/>
                        </a:rPr>
                        <a:t>ESP32 sensing and physical irrigation tests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4C7"/>
                      </a:solidFill>
                      <a:prstDash val="solid"/>
                    </a:lnR>
                    <a:lnB w="9525">
                      <a:solidFill>
                        <a:srgbClr val="CBD4C7"/>
                      </a:solidFill>
                      <a:prstDash val="solid"/>
                    </a:lnB>
                    <a:solidFill>
                      <a:srgbClr val="F7F7EF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3C30"/>
                          </a:solidFill>
                          <a:latin typeface="Arial"/>
                          <a:ea typeface="Arial"/>
                          <a:cs typeface="Arial"/>
                        </a:rPr>
                        <a:t>Reference for later hardware evaluation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4C7"/>
                      </a:solidFill>
                      <a:prstDash val="solid"/>
                    </a:lnR>
                    <a:lnB w="9525">
                      <a:solidFill>
                        <a:srgbClr val="CBD4C7"/>
                      </a:solidFill>
                      <a:prstDash val="solid"/>
                    </a:lnB>
                    <a:solidFill>
                      <a:srgbClr val="F7F7EF"/>
                    </a:solidFill>
                  </a:tcPr>
                </a:tc>
              </a:tr>
              <a:tr h="838200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3C30"/>
                          </a:solidFill>
                          <a:latin typeface="Arial"/>
                          <a:ea typeface="Arial"/>
                          <a:cs typeface="Arial"/>
                        </a:rPr>
                        <a:t>Senapaty</a:t>
                      </a:r>
                    </a:p>
                    <a:p>
                      <a:r>
                        <a:rPr sz="1800" b="0">
                          <a:solidFill>
                            <a:srgbClr val="233C30"/>
                          </a:solidFill>
                          <a:latin typeface="Arial"/>
                          <a:ea typeface="Arial"/>
                          <a:cs typeface="Arial"/>
                        </a:rPr>
                        <a:t>2024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BD4C7"/>
                      </a:solidFill>
                      <a:prstDash val="solid"/>
                    </a:lnL>
                    <a:lnR w="9525">
                      <a:solidFill>
                        <a:srgbClr val="CBD4C7"/>
                      </a:solidFill>
                      <a:prstDash val="solid"/>
                    </a:lnR>
                    <a:lnB w="9525">
                      <a:solidFill>
                        <a:srgbClr val="CBD4C7"/>
                      </a:solidFill>
                      <a:prstDash val="solid"/>
                    </a:lnB>
                    <a:solidFill>
                      <a:srgbClr val="E8EDE2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3C30"/>
                          </a:solidFill>
                          <a:latin typeface="Arial"/>
                          <a:ea typeface="Arial"/>
                          <a:cs typeface="Arial"/>
                        </a:rPr>
                        <a:t>Regional crop records and classifier comparison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4C7"/>
                      </a:solidFill>
                      <a:prstDash val="solid"/>
                    </a:lnR>
                    <a:lnB w="9525">
                      <a:solidFill>
                        <a:srgbClr val="CBD4C7"/>
                      </a:solidFill>
                      <a:prstDash val="solid"/>
                    </a:lnB>
                    <a:solidFill>
                      <a:srgbClr val="E8EDE2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3C30"/>
                          </a:solidFill>
                          <a:latin typeface="Arial"/>
                          <a:ea typeface="Arial"/>
                          <a:cs typeface="Arial"/>
                        </a:rPr>
                        <a:t>Base for separate dataset evaluation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4C7"/>
                      </a:solidFill>
                      <a:prstDash val="solid"/>
                    </a:lnR>
                    <a:lnB w="9525">
                      <a:solidFill>
                        <a:srgbClr val="CBD4C7"/>
                      </a:solidFill>
                      <a:prstDash val="solid"/>
                    </a:lnB>
                    <a:solidFill>
                      <a:srgbClr val="E8EDE2"/>
                    </a:solidFill>
                  </a:tcPr>
                </a:tc>
              </a:tr>
              <a:tr h="838200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3C30"/>
                          </a:solidFill>
                          <a:latin typeface="Arial"/>
                          <a:ea typeface="Arial"/>
                          <a:cs typeface="Arial"/>
                        </a:rPr>
                        <a:t>TerraGrow</a:t>
                      </a:r>
                    </a:p>
                    <a:p>
                      <a:r>
                        <a:rPr sz="1800" b="0">
                          <a:solidFill>
                            <a:srgbClr val="233C30"/>
                          </a:solidFill>
                          <a:latin typeface="Arial"/>
                          <a:ea typeface="Arial"/>
                          <a:cs typeface="Arial"/>
                        </a:rPr>
                        <a:t>2025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BD4C7"/>
                      </a:solidFill>
                      <a:prstDash val="solid"/>
                    </a:lnL>
                    <a:lnR w="9525">
                      <a:solidFill>
                        <a:srgbClr val="CBD4C7"/>
                      </a:solidFill>
                      <a:prstDash val="solid"/>
                    </a:lnR>
                    <a:lnB w="9525">
                      <a:solidFill>
                        <a:srgbClr val="CBD4C7"/>
                      </a:solidFill>
                      <a:prstDash val="solid"/>
                    </a:lnB>
                    <a:solidFill>
                      <a:srgbClr val="F7F7EF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3C30"/>
                          </a:solidFill>
                          <a:latin typeface="Arial"/>
                          <a:ea typeface="Arial"/>
                          <a:cs typeface="Arial"/>
                        </a:rPr>
                        <a:t>Local ESP32 fuzzy control and hardware evidence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4C7"/>
                      </a:solidFill>
                      <a:prstDash val="solid"/>
                    </a:lnR>
                    <a:lnB w="9525">
                      <a:solidFill>
                        <a:srgbClr val="CBD4C7"/>
                      </a:solidFill>
                      <a:prstDash val="solid"/>
                    </a:lnB>
                    <a:solidFill>
                      <a:srgbClr val="F7F7EF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3C30"/>
                          </a:solidFill>
                          <a:latin typeface="Arial"/>
                          <a:ea typeface="Arial"/>
                          <a:cs typeface="Arial"/>
                        </a:rPr>
                        <a:t>Prior art for local control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4C7"/>
                      </a:solidFill>
                      <a:prstDash val="solid"/>
                    </a:lnR>
                    <a:lnB w="9525">
                      <a:solidFill>
                        <a:srgbClr val="CBD4C7"/>
                      </a:solidFill>
                      <a:prstDash val="solid"/>
                    </a:lnB>
                    <a:solidFill>
                      <a:srgbClr val="F7F7EF"/>
                    </a:solidFill>
                  </a:tcPr>
                </a:tc>
              </a:tr>
              <a:tr h="838200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3C30"/>
                          </a:solidFill>
                          <a:latin typeface="Arial"/>
                          <a:ea typeface="Arial"/>
                          <a:cs typeface="Arial"/>
                        </a:rPr>
                        <a:t>Cartolano</a:t>
                      </a:r>
                    </a:p>
                    <a:p>
                      <a:r>
                        <a:rPr sz="1800" b="0">
                          <a:solidFill>
                            <a:srgbClr val="233C30"/>
                          </a:solidFill>
                          <a:latin typeface="Arial"/>
                          <a:ea typeface="Arial"/>
                          <a:cs typeface="Arial"/>
                        </a:rPr>
                        <a:t>2024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BD4C7"/>
                      </a:solidFill>
                      <a:prstDash val="solid"/>
                    </a:lnL>
                    <a:lnR w="9525">
                      <a:solidFill>
                        <a:srgbClr val="CBD4C7"/>
                      </a:solidFill>
                      <a:prstDash val="solid"/>
                    </a:lnR>
                    <a:lnB w="9525">
                      <a:solidFill>
                        <a:srgbClr val="CBD4C7"/>
                      </a:solidFill>
                      <a:prstDash val="solid"/>
                    </a:lnB>
                    <a:solidFill>
                      <a:srgbClr val="E8EDE2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3C30"/>
                          </a:solidFill>
                          <a:latin typeface="Arial"/>
                          <a:ea typeface="Arial"/>
                          <a:cs typeface="Arial"/>
                        </a:rPr>
                        <a:t>SHAP and LIME on crop classification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4C7"/>
                      </a:solidFill>
                      <a:prstDash val="solid"/>
                    </a:lnR>
                    <a:lnB w="9525">
                      <a:solidFill>
                        <a:srgbClr val="CBD4C7"/>
                      </a:solidFill>
                      <a:prstDash val="solid"/>
                    </a:lnB>
                    <a:solidFill>
                      <a:srgbClr val="E8EDE2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3C30"/>
                          </a:solidFill>
                          <a:latin typeface="Arial"/>
                          <a:ea typeface="Arial"/>
                          <a:cs typeface="Arial"/>
                        </a:rPr>
                        <a:t>Explainability remains future work here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4C7"/>
                      </a:solidFill>
                      <a:prstDash val="solid"/>
                    </a:lnR>
                    <a:lnB w="9525">
                      <a:solidFill>
                        <a:srgbClr val="CBD4C7"/>
                      </a:solidFill>
                      <a:prstDash val="solid"/>
                    </a:lnB>
                    <a:solidFill>
                      <a:srgbClr val="E8EDE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4622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55DFCA-14A4-40FC-AEF9-195AE3E9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C30"/>
                </a:solidFill>
                <a:latin typeface="Arial"/>
                <a:ea typeface="Arial"/>
                <a:cs typeface="Arial"/>
              </a:rPr>
              <a:t>Research gap identified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575A96-1ACA-4E3D-856F-FC38B3CB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356"/>
                </a:solidFill>
                <a:latin typeface="Arial"/>
                <a:ea typeface="Arial"/>
                <a:cs typeface="Arial"/>
              </a:rPr>
              <a:t>SmartAgri  /  Project Review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90CFB3-82A6-457A-888C-87CDD291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35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7A1C25-ABC5-4E34-AFE2-99A12013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33C30"/>
                </a:solidFill>
                <a:latin typeface="Arial"/>
                <a:ea typeface="Arial"/>
                <a:cs typeface="Arial"/>
              </a:rPr>
              <a:t>Sensor and model consistency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C5199B-DB13-4DC9-B65F-100367B4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038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30"/>
                </a:solidFill>
                <a:latin typeface="Arial"/>
                <a:ea typeface="Arial"/>
                <a:cs typeface="Arial"/>
              </a:rPr>
              <a:t>A rainfall-derived moisture proxy needs calibration before it can represent a capacitive probe.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92B1B1-721D-4FA7-BF83-EFE08AA9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2897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33C30"/>
                </a:solidFill>
                <a:latin typeface="Arial"/>
                <a:ea typeface="Arial"/>
                <a:cs typeface="Arial"/>
              </a:rPr>
              <a:t>Reproducible functional evaluation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274BF5-55AD-4558-A24D-1DB4849C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1038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30"/>
                </a:solidFill>
                <a:latin typeface="Arial"/>
                <a:ea typeface="Arial"/>
                <a:cs typeface="Arial"/>
              </a:rPr>
              <a:t>Rules, matched baseline inputs and failure handling need explicit tests and archived records.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2A5DF8-AF1D-404D-A24F-A2D2CD62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33C30"/>
                </a:solidFill>
                <a:latin typeface="Arial"/>
                <a:ea typeface="Arial"/>
                <a:cs typeface="Arial"/>
              </a:rPr>
              <a:t>Physical effectiveness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65D0C7-1132-4114-B494-018FE5A8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30"/>
                </a:solidFill>
                <a:latin typeface="Arial"/>
                <a:ea typeface="Arial"/>
                <a:cs typeface="Arial"/>
              </a:rPr>
              <a:t>Water delivery, sensor drift and crop outcomes still require controlled physical trials.</a:t>
            </a:r>
          </a:p>
        </p:txBody>
      </p:sp>
    </p:spTree>
    <p:extLst>
      <p:ext uri="{BB962C8B-B14F-4D97-AF65-F5344CB8AC3E}">
        <p14:creationId xmlns:p14="http://schemas.microsoft.com/office/powerpoint/2010/main" val="12048562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18E186-01CE-4C9D-9C6D-56789C90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C30"/>
                </a:solidFill>
                <a:latin typeface="Arial"/>
                <a:ea typeface="Arial"/>
                <a:cs typeface="Arial"/>
              </a:rPr>
              <a:t>Proposed 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8B4059-5CE2-4672-89A5-B5CEB2ED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356"/>
                </a:solidFill>
                <a:latin typeface="Arial"/>
                <a:ea typeface="Arial"/>
                <a:cs typeface="Arial"/>
              </a:rPr>
              <a:t>SmartAgri  /  Project Review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CF76FE-AFC3-4C03-808A-C58E426F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35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D796B7-E216-4103-BEA1-9CD49298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3238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33C30"/>
                </a:solidFill>
                <a:latin typeface="Arial"/>
                <a:ea typeface="Arial"/>
                <a:cs typeface="Arial"/>
              </a:rPr>
              <a:t>Local control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33C30"/>
                </a:solidFill>
                <a:latin typeface="Arial"/>
                <a:ea typeface="Arial"/>
                <a:cs typeface="Arial"/>
              </a:rPr>
              <a:t>Synthetic MQTT telemetry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33C30"/>
                </a:solidFill>
                <a:latin typeface="Arial"/>
                <a:ea typeface="Arial"/>
                <a:cs typeface="Arial"/>
              </a:rPr>
              <a:t>Dashboard and reports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33C30"/>
                </a:solidFill>
                <a:latin typeface="Arial"/>
                <a:ea typeface="Arial"/>
                <a:cs typeface="Arial"/>
              </a:rPr>
              <a:t>Separate crop experiment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1782B9-923B-46A6-8DCA-32969CA098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ec3d11dee3413b"/>
          <a:stretch xmlns:a="http://schemas.openxmlformats.org/drawingml/2006/main"/>
        </p:blipFill>
        <p:spPr>
          <a:xfrm xmlns:a="http://schemas.openxmlformats.org/drawingml/2006/main">
            <a:off x="4966415" y="1419225"/>
            <a:ext cx="5859620" cy="4476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1746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739254-54C2-4179-A239-849E9088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C30"/>
                </a:solidFill>
                <a:latin typeface="Arial"/>
                <a:ea typeface="Arial"/>
                <a:cs typeface="Arial"/>
              </a:rPr>
              <a:t>Sensors and circuit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19FC02-DB01-4953-95CC-119DBEFB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356"/>
                </a:solidFill>
                <a:latin typeface="Arial"/>
                <a:ea typeface="Arial"/>
                <a:cs typeface="Arial"/>
              </a:rPr>
              <a:t>SmartAgri  /  Project Review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379F31-CB87-4590-8F66-78E94BDF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35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313B3A-6DB5-48F2-9B4E-A10CC4D0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333875" cy="417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33C30"/>
                </a:solidFill>
                <a:latin typeface="Arial"/>
                <a:ea typeface="Arial"/>
                <a:cs typeface="Arial"/>
              </a:rPr>
              <a:t>Physical design</a:t>
            </a:r>
          </a:p>
          <a:p xmlns:a="http://schemas.openxmlformats.org/drawingml/2006/main">
            <a:pPr algn="l">
              <a:defRPr sz="202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33C30"/>
                </a:solidFill>
                <a:latin typeface="Arial"/>
                <a:ea typeface="Arial"/>
                <a:cs typeface="Arial"/>
              </a:rPr>
              <a:t>DHT11 and capacitive probe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33C30"/>
                </a:solidFill>
                <a:latin typeface="Arial"/>
                <a:ea typeface="Arial"/>
                <a:cs typeface="Arial"/>
              </a:rPr>
              <a:t>Wokwi model</a:t>
            </a:r>
          </a:p>
          <a:p xmlns:a="http://schemas.openxmlformats.org/drawingml/2006/main">
            <a:pPr algn="l">
              <a:defRPr sz="202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33C30"/>
                </a:solidFill>
                <a:latin typeface="Arial"/>
                <a:ea typeface="Arial"/>
                <a:cs typeface="Arial"/>
              </a:rPr>
              <a:t>DHT22 and potentiometer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33C30"/>
                </a:solidFill>
                <a:latin typeface="Arial"/>
                <a:ea typeface="Arial"/>
                <a:cs typeface="Arial"/>
              </a:rPr>
              <a:t>Output</a:t>
            </a:r>
          </a:p>
          <a:p xmlns:a="http://schemas.openxmlformats.org/drawingml/2006/main">
            <a:pPr algn="l">
              <a:defRPr sz="202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33C30"/>
                </a:solidFill>
                <a:latin typeface="Arial"/>
                <a:ea typeface="Arial"/>
                <a:cs typeface="Arial"/>
              </a:rPr>
              <a:t>GPIO 2 LED, with no water-flow model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60B3C8-1905-4316-8803-2F2B714759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5f298001af4710"/>
          <a:stretch xmlns:a="http://schemas.openxmlformats.org/drawingml/2006/main"/>
        </p:blipFill>
        <p:spPr>
          <a:xfrm xmlns:a="http://schemas.openxmlformats.org/drawingml/2006/main">
            <a:off x="5231593" y="1438275"/>
            <a:ext cx="6157940" cy="4343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4601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DA3E68-4325-4D69-BE30-CCF51DAC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C30"/>
                </a:solidFill>
                <a:latin typeface="Arial"/>
                <a:ea typeface="Arial"/>
                <a:cs typeface="Arial"/>
              </a:rPr>
              <a:t>Control policy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0AA47A-C969-4FD6-9673-0AD1E1F3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356"/>
                </a:solidFill>
                <a:latin typeface="Arial"/>
                <a:ea typeface="Arial"/>
                <a:cs typeface="Arial"/>
              </a:rPr>
              <a:t>SmartAgri  /  Project Review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DE66F7-8ABC-4C7F-AF12-B85024B6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35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A2C802-1082-4922-9B1A-ABE44115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335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33C30"/>
                </a:solidFill>
                <a:latin typeface="Arial"/>
                <a:ea typeface="Arial"/>
                <a:cs typeface="Arial"/>
              </a:rPr>
              <a:t>27 zero-order Sugeno rules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8B321C-1C25-43F2-84FD-C478181E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30"/>
                </a:solidFill>
                <a:latin typeface="Arial"/>
                <a:ea typeface="Arial"/>
                <a:cs typeface="Arial"/>
              </a:rPr>
              <a:t>Minimum antecedent firing with a weighted average of constant rule consequences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11E7C-6B65-497C-BC6A-4BDA2DA8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10382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33C30"/>
                </a:solidFill>
                <a:latin typeface="Arial"/>
                <a:ea typeface="Arial"/>
                <a:cs typeface="Arial"/>
              </a:rPr>
              <a:t>y = sum(w × consequence) / sum(w)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4EEFD7-CB95-427B-AEC9-33EB6D65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0477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30"/>
                </a:solidFill>
                <a:latin typeface="Arial"/>
                <a:ea typeface="Arial"/>
                <a:cs typeface="Arial"/>
              </a:rPr>
              <a:t>Reference policy: 10 command minutes below 30% filtered moisture, otherwise zero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294421-15B0-402E-8417-AA7E9CB7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959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356"/>
                </a:solidFill>
                <a:latin typeface="Arial"/>
                <a:ea typeface="Arial"/>
                <a:cs typeface="Arial"/>
              </a:rPr>
              <a:t>Simulation scale: one commanded minute equals one simulator second</a:t>
            </a:r>
          </a:p>
        </p:txBody>
      </p:sp>
    </p:spTree>
    <p:extLst>
      <p:ext uri="{BB962C8B-B14F-4D97-AF65-F5344CB8AC3E}">
        <p14:creationId xmlns:p14="http://schemas.microsoft.com/office/powerpoint/2010/main" val="10866935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05AA58-3054-4AE5-A6B4-8771FA17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C30"/>
                </a:solidFill>
                <a:latin typeface="Arial"/>
                <a:ea typeface="Arial"/>
                <a:cs typeface="Arial"/>
              </a:rPr>
              <a:t>Dashboard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A281AF-D344-4C2F-982C-32A7CD8E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356"/>
                </a:solidFill>
                <a:latin typeface="Arial"/>
                <a:ea typeface="Arial"/>
                <a:cs typeface="Arial"/>
              </a:rPr>
              <a:t>SmartAgri  /  Project Review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C21619-F438-4574-BBF4-7B3CB6B4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35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087205-E6A1-4A70-9F71-F0712F3E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619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33C30"/>
                </a:solidFill>
                <a:latin typeface="Arial"/>
                <a:ea typeface="Arial"/>
                <a:cs typeface="Arial"/>
              </a:rPr>
              <a:t>Local sign-in and account creation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5A9666-C25C-4D42-B2F0-ED18DCE7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619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33C30"/>
                </a:solidFill>
                <a:latin typeface="Arial"/>
                <a:ea typeface="Arial"/>
                <a:cs typeface="Arial"/>
              </a:rPr>
              <a:t>Readings, history and threshold alerts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D540D0-CF51-480F-8CDA-E8CEBCB3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619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33C30"/>
                </a:solidFill>
                <a:latin typeface="Arial"/>
                <a:ea typeface="Arial"/>
                <a:cs typeface="Arial"/>
              </a:rPr>
              <a:t>Crop-model scores with stated limits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153C81-CCD4-48FB-A82E-074232D2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619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33C30"/>
                </a:solidFill>
                <a:latin typeface="Arial"/>
                <a:ea typeface="Arial"/>
                <a:cs typeface="Arial"/>
              </a:rPr>
              <a:t>Rules-based helper and PDF reports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482AFE-2424-43F8-889B-A7109E08DF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ffda562dfb42e3"/>
          <a:stretch xmlns:a="http://schemas.openxmlformats.org/drawingml/2006/main"/>
        </p:blipFill>
        <p:spPr>
          <a:xfrm xmlns:a="http://schemas.openxmlformats.org/drawingml/2006/main">
            <a:off x="7905750" y="1931821"/>
            <a:ext cx="3571875" cy="34896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1626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DE676A-D4B7-4895-B06B-AF6EC61C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C30"/>
                </a:solidFill>
                <a:latin typeface="Arial"/>
                <a:ea typeface="Arial"/>
                <a:cs typeface="Arial"/>
              </a:rPr>
              <a:t>Evaluation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D7774D-A85C-4C6F-A062-624FB26C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356"/>
                </a:solidFill>
                <a:latin typeface="Arial"/>
                <a:ea typeface="Arial"/>
                <a:cs typeface="Arial"/>
              </a:rPr>
              <a:t>SmartAgri  /  Project Review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3256AA-5159-4EF7-BEDC-2C847A7D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35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AD583D-00C8-4F84-A6C4-7556A3FA2189}"/>
              </a:ext>
            </a:extLst>
          </p:cNvPr>
          <p:cNvGraphicFramePr/>
          <p:nvPr/>
        </p:nvGraphicFramePr>
        <p:xfrm>
          <a:off xmlns:a="http://schemas.openxmlformats.org/drawingml/2006/main" x="685800" y="1562100"/>
          <a:ext xmlns:a="http://schemas.openxmlformats.org/drawingml/2006/main" cx="108204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4286250"/>
                <a:gridCol w="4295775"/>
              </a:tblGrid>
              <a:tr h="838200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Level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BD4C7"/>
                      </a:solidFill>
                      <a:prstDash val="solid"/>
                    </a:lnL>
                    <a:lnR w="9525">
                      <a:solidFill>
                        <a:srgbClr val="CBD4C7"/>
                      </a:solidFill>
                      <a:prstDash val="solid"/>
                    </a:lnR>
                    <a:lnT w="9525">
                      <a:solidFill>
                        <a:srgbClr val="CBD4C7"/>
                      </a:solidFill>
                      <a:prstDash val="solid"/>
                    </a:lnT>
                    <a:lnB w="9525">
                      <a:solidFill>
                        <a:srgbClr val="CBD4C7"/>
                      </a:solidFill>
                      <a:prstDash val="solid"/>
                    </a:lnB>
                    <a:solidFill>
                      <a:srgbClr val="233C30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Procedure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4C7"/>
                      </a:solidFill>
                      <a:prstDash val="solid"/>
                    </a:lnR>
                    <a:lnT w="9525">
                      <a:solidFill>
                        <a:srgbClr val="CBD4C7"/>
                      </a:solidFill>
                      <a:prstDash val="solid"/>
                    </a:lnT>
                    <a:lnB w="9525">
                      <a:solidFill>
                        <a:srgbClr val="CBD4C7"/>
                      </a:solidFill>
                      <a:prstDash val="solid"/>
                    </a:lnB>
                    <a:solidFill>
                      <a:srgbClr val="233C30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4C7"/>
                      </a:solidFill>
                      <a:prstDash val="solid"/>
                    </a:lnR>
                    <a:lnT w="9525">
                      <a:solidFill>
                        <a:srgbClr val="CBD4C7"/>
                      </a:solidFill>
                      <a:prstDash val="solid"/>
                    </a:lnT>
                    <a:lnB w="9525">
                      <a:solidFill>
                        <a:srgbClr val="CBD4C7"/>
                      </a:solidFill>
                      <a:prstDash val="solid"/>
                    </a:lnB>
                    <a:solidFill>
                      <a:srgbClr val="233C30"/>
                    </a:solidFill>
                  </a:tcPr>
                </a:tc>
              </a:tr>
              <a:tr h="838200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3C30"/>
                          </a:solidFill>
                          <a:latin typeface="Arial"/>
                          <a:ea typeface="Arial"/>
                          <a:cs typeface="Arial"/>
                        </a:rPr>
                        <a:t>Browser model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BD4C7"/>
                      </a:solidFill>
                      <a:prstDash val="solid"/>
                    </a:lnL>
                    <a:lnR w="9525">
                      <a:solidFill>
                        <a:srgbClr val="CBD4C7"/>
                      </a:solidFill>
                      <a:prstDash val="solid"/>
                    </a:lnR>
                    <a:lnB w="9525">
                      <a:solidFill>
                        <a:srgbClr val="CBD4C7"/>
                      </a:solidFill>
                      <a:prstDash val="solid"/>
                    </a:lnB>
                    <a:solidFill>
                      <a:srgbClr val="F7F7EF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3C30"/>
                          </a:solidFill>
                          <a:latin typeface="Arial"/>
                          <a:ea typeface="Arial"/>
                          <a:cs typeface="Arial"/>
                        </a:rPr>
                        <a:t>Identical traces for fuzzy and threshold policies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4C7"/>
                      </a:solidFill>
                      <a:prstDash val="solid"/>
                    </a:lnR>
                    <a:lnB w="9525">
                      <a:solidFill>
                        <a:srgbClr val="CBD4C7"/>
                      </a:solidFill>
                      <a:prstDash val="solid"/>
                    </a:lnB>
                    <a:solidFill>
                      <a:srgbClr val="F7F7EF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3C30"/>
                          </a:solidFill>
                          <a:latin typeface="Arial"/>
                          <a:ea typeface="Arial"/>
                          <a:cs typeface="Arial"/>
                        </a:rPr>
                        <a:t>Input settings, commands, timers and exports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4C7"/>
                      </a:solidFill>
                      <a:prstDash val="solid"/>
                    </a:lnR>
                    <a:lnB w="9525">
                      <a:solidFill>
                        <a:srgbClr val="CBD4C7"/>
                      </a:solidFill>
                      <a:prstDash val="solid"/>
                    </a:lnB>
                    <a:solidFill>
                      <a:srgbClr val="F7F7EF"/>
                    </a:solidFill>
                  </a:tcPr>
                </a:tc>
              </a:tr>
              <a:tr h="838200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3C30"/>
                          </a:solidFill>
                          <a:latin typeface="Arial"/>
                          <a:ea typeface="Arial"/>
                          <a:cs typeface="Arial"/>
                        </a:rPr>
                        <a:t>Wokwi firmware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BD4C7"/>
                      </a:solidFill>
                      <a:prstDash val="solid"/>
                    </a:lnL>
                    <a:lnR w="9525">
                      <a:solidFill>
                        <a:srgbClr val="CBD4C7"/>
                      </a:solidFill>
                      <a:prstDash val="solid"/>
                    </a:lnR>
                    <a:lnB w="9525">
                      <a:solidFill>
                        <a:srgbClr val="CBD4C7"/>
                      </a:solidFill>
                      <a:prstDash val="solid"/>
                    </a:lnB>
                    <a:solidFill>
                      <a:srgbClr val="E8EDE2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3C30"/>
                          </a:solidFill>
                          <a:latin typeface="Arial"/>
                          <a:ea typeface="Arial"/>
                          <a:cs typeface="Arial"/>
                        </a:rPr>
                        <a:t>Boundary, sensor fault, outage and recovery cases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4C7"/>
                      </a:solidFill>
                      <a:prstDash val="solid"/>
                    </a:lnR>
                    <a:lnB w="9525">
                      <a:solidFill>
                        <a:srgbClr val="CBD4C7"/>
                      </a:solidFill>
                      <a:prstDash val="solid"/>
                    </a:lnB>
                    <a:solidFill>
                      <a:srgbClr val="E8EDE2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3C30"/>
                          </a:solidFill>
                          <a:latin typeface="Arial"/>
                          <a:ea typeface="Arial"/>
                          <a:cs typeface="Arial"/>
                        </a:rPr>
                        <a:t>Circuit plus Serial, GPIO and MQTT records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4C7"/>
                      </a:solidFill>
                      <a:prstDash val="solid"/>
                    </a:lnR>
                    <a:lnB w="9525">
                      <a:solidFill>
                        <a:srgbClr val="CBD4C7"/>
                      </a:solidFill>
                      <a:prstDash val="solid"/>
                    </a:lnB>
                    <a:solidFill>
                      <a:srgbClr val="E8EDE2"/>
                    </a:solidFill>
                  </a:tcPr>
                </a:tc>
              </a:tr>
              <a:tr h="838200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3C30"/>
                          </a:solidFill>
                          <a:latin typeface="Arial"/>
                          <a:ea typeface="Arial"/>
                          <a:cs typeface="Arial"/>
                        </a:rPr>
                        <a:t>Crop dataset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BD4C7"/>
                      </a:solidFill>
                      <a:prstDash val="solid"/>
                    </a:lnL>
                    <a:lnR w="9525">
                      <a:solidFill>
                        <a:srgbClr val="CBD4C7"/>
                      </a:solidFill>
                      <a:prstDash val="solid"/>
                    </a:lnR>
                    <a:lnB w="9525">
                      <a:solidFill>
                        <a:srgbClr val="CBD4C7"/>
                      </a:solidFill>
                      <a:prstDash val="solid"/>
                    </a:lnB>
                    <a:solidFill>
                      <a:srgbClr val="F7F7EF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3C30"/>
                          </a:solidFill>
                          <a:latin typeface="Arial"/>
                          <a:ea typeface="Arial"/>
                          <a:cs typeface="Arial"/>
                        </a:rPr>
                        <a:t>Stratified holdout and training-only preprocessing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4C7"/>
                      </a:solidFill>
                      <a:prstDash val="solid"/>
                    </a:lnR>
                    <a:lnB w="9525">
                      <a:solidFill>
                        <a:srgbClr val="CBD4C7"/>
                      </a:solidFill>
                      <a:prstDash val="solid"/>
                    </a:lnB>
                    <a:solidFill>
                      <a:srgbClr val="F7F7EF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3C30"/>
                          </a:solidFill>
                          <a:latin typeface="Arial"/>
                          <a:ea typeface="Arial"/>
                          <a:cs typeface="Arial"/>
                        </a:rPr>
                        <a:t>Accuracy, macro F1 and top-three accuracy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4C7"/>
                      </a:solidFill>
                      <a:prstDash val="solid"/>
                    </a:lnR>
                    <a:lnB w="9525">
                      <a:solidFill>
                        <a:srgbClr val="CBD4C7"/>
                      </a:solidFill>
                      <a:prstDash val="solid"/>
                    </a:lnB>
                    <a:solidFill>
                      <a:srgbClr val="F7F7EF"/>
                    </a:solidFill>
                  </a:tcPr>
                </a:tc>
              </a:tr>
              <a:tr h="838200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3C30"/>
                          </a:solidFill>
                          <a:latin typeface="Arial"/>
                          <a:ea typeface="Arial"/>
                          <a:cs typeface="Arial"/>
                        </a:rPr>
                        <a:t>Physical work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BD4C7"/>
                      </a:solidFill>
                      <a:prstDash val="solid"/>
                    </a:lnL>
                    <a:lnR w="9525">
                      <a:solidFill>
                        <a:srgbClr val="CBD4C7"/>
                      </a:solidFill>
                      <a:prstDash val="solid"/>
                    </a:lnR>
                    <a:lnB w="9525">
                      <a:solidFill>
                        <a:srgbClr val="CBD4C7"/>
                      </a:solidFill>
                      <a:prstDash val="solid"/>
                    </a:lnB>
                    <a:solidFill>
                      <a:srgbClr val="E8EDE2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3C30"/>
                          </a:solidFill>
                          <a:latin typeface="Arial"/>
                          <a:ea typeface="Arial"/>
                          <a:cs typeface="Arial"/>
                        </a:rPr>
                        <a:t>Calibrated sensors and measured water delivery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4C7"/>
                      </a:solidFill>
                      <a:prstDash val="solid"/>
                    </a:lnR>
                    <a:lnB w="9525">
                      <a:solidFill>
                        <a:srgbClr val="CBD4C7"/>
                      </a:solidFill>
                      <a:prstDash val="solid"/>
                    </a:lnB>
                    <a:solidFill>
                      <a:srgbClr val="E8EDE2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3C30"/>
                          </a:solidFill>
                          <a:latin typeface="Arial"/>
                          <a:ea typeface="Arial"/>
                          <a:cs typeface="Arial"/>
                        </a:rPr>
                        <a:t>Future controlled and replicated trials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4C7"/>
                      </a:solidFill>
                      <a:prstDash val="solid"/>
                    </a:lnR>
                    <a:lnB w="9525">
                      <a:solidFill>
                        <a:srgbClr val="CBD4C7"/>
                      </a:solidFill>
                      <a:prstDash val="solid"/>
                    </a:lnB>
                    <a:solidFill>
                      <a:srgbClr val="E8EDE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39687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FF6F71-CE57-47D5-B687-2FAF09A1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C30"/>
                </a:solidFill>
                <a:latin typeface="Arial"/>
                <a:ea typeface="Arial"/>
                <a:cs typeface="Arial"/>
              </a:rPr>
              <a:t>Scope and limitations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F16F36-CB36-45B4-B9EC-7D746A47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356"/>
                </a:solidFill>
                <a:latin typeface="Arial"/>
                <a:ea typeface="Arial"/>
                <a:cs typeface="Arial"/>
              </a:rPr>
              <a:t>SmartAgri  /  Project Review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E7FBD2-A333-4764-A4BD-09E947A2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35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53E10C-C935-4EF2-A496-D44E5790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14475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33C30"/>
                </a:solidFill>
                <a:latin typeface="Arial"/>
                <a:ea typeface="Arial"/>
                <a:cs typeface="Arial"/>
              </a:rPr>
              <a:t>Simulation establishes selected program behaviour under prescribed conditions.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76D632-BD9C-421D-B7D9-66F653D4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33C30"/>
                </a:solidFill>
                <a:latin typeface="Arial"/>
                <a:ea typeface="Arial"/>
                <a:cs typeface="Arial"/>
              </a:rPr>
              <a:t>A potentiometer and LED do not measure soil-water dynamics or delivered irrigation volume.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69E399-882E-4875-93CD-AB8C4B1C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33C30"/>
                </a:solidFill>
                <a:latin typeface="Arial"/>
                <a:ea typeface="Arial"/>
                <a:cs typeface="Arial"/>
              </a:rPr>
              <a:t>Public-dataset crop labels do not validate physical sensor input or geographical transfer.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BBC2A2-7390-4054-B4F8-603AFA98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33C30"/>
                </a:solidFill>
                <a:latin typeface="Arial"/>
                <a:ea typeface="Arial"/>
                <a:cs typeface="Arial"/>
              </a:rPr>
              <a:t>Sensor calibration, hydraulic safety, deployment cost and field trials remain future work.</a:t>
            </a:r>
          </a:p>
        </p:txBody>
      </p:sp>
    </p:spTree>
    <p:extLst>
      <p:ext uri="{BB962C8B-B14F-4D97-AF65-F5344CB8AC3E}">
        <p14:creationId xmlns:p14="http://schemas.microsoft.com/office/powerpoint/2010/main" val="182991798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D130DE-93B1-4256-8AAF-2FD35464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C30"/>
                </a:solidFill>
                <a:latin typeface="Arial"/>
                <a:ea typeface="Arial"/>
                <a:cs typeface="Arial"/>
              </a:rPr>
              <a:t>Review deliverables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F0CA13-F747-43BE-9635-E7AD538F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356"/>
                </a:solidFill>
                <a:latin typeface="Arial"/>
                <a:ea typeface="Arial"/>
                <a:cs typeface="Arial"/>
              </a:rPr>
              <a:t>SmartAgri  /  Project Review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37C94F-CE85-4482-B6AF-B1A25C27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35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DA7FC9-43E9-4CDD-845F-49EC6067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3352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33C30"/>
                </a:solidFill>
                <a:latin typeface="Arial"/>
                <a:ea typeface="Arial"/>
                <a:cs typeface="Arial"/>
              </a:rPr>
              <a:t>Review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20D690-09ED-40BD-8C43-A2E9C6EA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59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30"/>
                </a:solidFill>
                <a:latin typeface="Arial"/>
                <a:ea typeface="Arial"/>
                <a:cs typeface="Arial"/>
              </a:rPr>
              <a:t>Q1 base paper, presentation and eight-section research draft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28DBF4-0F8F-44FB-BC68-1B180D02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33C30"/>
                </a:solidFill>
                <a:latin typeface="Arial"/>
                <a:ea typeface="Arial"/>
                <a:cs typeface="Arial"/>
              </a:rPr>
              <a:t>Review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671C55-A8CA-49C0-A7C9-78B0B7FB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30"/>
                </a:solidFill>
                <a:latin typeface="Arial"/>
                <a:ea typeface="Arial"/>
                <a:cs typeface="Arial"/>
              </a:rPr>
              <a:t>Final editable research paper and complete implementation ZIP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B90FE1-5CB8-4DB2-92C2-CDA83E7C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33C30"/>
                </a:solidFill>
                <a:latin typeface="Arial"/>
                <a:ea typeface="Arial"/>
                <a:cs typeface="Arial"/>
              </a:rPr>
              <a:t>Review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4530AD-6DE1-4739-BBA9-084F6141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35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30"/>
                </a:solidFill>
                <a:latin typeface="Arial"/>
                <a:ea typeface="Arial"/>
                <a:cs typeface="Arial"/>
              </a:rPr>
              <a:t>One ZIP with the paper named using both registration numbers, implementation and repository link</a:t>
            </a:r>
          </a:p>
        </p:txBody>
      </p:sp>
    </p:spTree>
    <p:extLst>
      <p:ext uri="{BB962C8B-B14F-4D97-AF65-F5344CB8AC3E}">
        <p14:creationId xmlns:p14="http://schemas.microsoft.com/office/powerpoint/2010/main" val="19642480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B5A1F8-E12E-46EE-BAAD-688F2FF4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C30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6EE76B-5D06-4FA7-8C3A-1B10D51D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356"/>
                </a:solidFill>
                <a:latin typeface="Arial"/>
                <a:ea typeface="Arial"/>
                <a:cs typeface="Arial"/>
              </a:rPr>
              <a:t>SmartAgri  /  Project Review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D0FE81-6477-4E86-A5E0-B5EEDFF3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35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35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6CA4D7-BD88-4B63-A58D-1699CE6E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C30"/>
                </a:solidFill>
                <a:latin typeface="Arial"/>
                <a:ea typeface="Arial"/>
                <a:cs typeface="Arial"/>
              </a:rPr>
              <a:t>Senapaty et al. (2024). Agriculture 14(8), 1256.</a:t>
            </a:r>
          </a:p>
          <a:p xmlns:a="http://schemas.openxmlformats.org/drawingml/2006/main">
            <a:pPr algn="l">
              <a:defRPr sz="18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C30"/>
                </a:solidFill>
                <a:latin typeface="Arial"/>
                <a:ea typeface="Arial"/>
                <a:cs typeface="Arial"/>
              </a:rPr>
              <a:t>10.3390/agriculture14081256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033BD3-FF0C-4A42-8843-2DD8B248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C30"/>
                </a:solidFill>
                <a:latin typeface="Arial"/>
                <a:ea typeface="Arial"/>
                <a:cs typeface="Arial"/>
              </a:rPr>
              <a:t>Pereira et al. (2023). IoT 4(3), 221–243.</a:t>
            </a:r>
          </a:p>
          <a:p xmlns:a="http://schemas.openxmlformats.org/drawingml/2006/main">
            <a:pPr algn="l">
              <a:defRPr sz="18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C30"/>
                </a:solidFill>
                <a:latin typeface="Arial"/>
                <a:ea typeface="Arial"/>
                <a:cs typeface="Arial"/>
              </a:rPr>
              <a:t>10.3390/iot4030012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851BC7-1FB4-4920-92D3-FEA69F15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C30"/>
                </a:solidFill>
                <a:latin typeface="Arial"/>
                <a:ea typeface="Arial"/>
                <a:cs typeface="Arial"/>
              </a:rPr>
              <a:t>Wijayakusuma et al. (2025). HardwareX 24, e00724.</a:t>
            </a:r>
          </a:p>
          <a:p xmlns:a="http://schemas.openxmlformats.org/drawingml/2006/main">
            <a:pPr algn="l">
              <a:defRPr sz="18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C30"/>
                </a:solidFill>
                <a:latin typeface="Arial"/>
                <a:ea typeface="Arial"/>
                <a:cs typeface="Arial"/>
              </a:rPr>
              <a:t>10.1016/j.ohx.2025.e00724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4D3D36-6B8E-4ABC-A23F-FBBEDAA5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C30"/>
                </a:solidFill>
                <a:latin typeface="Arial"/>
                <a:ea typeface="Arial"/>
                <a:cs typeface="Arial"/>
              </a:rPr>
              <a:t>Cartolano et al. (2024). Multimedia Tools and Applications 83, 37225–37246.</a:t>
            </a:r>
          </a:p>
          <a:p xmlns:a="http://schemas.openxmlformats.org/drawingml/2006/main">
            <a:pPr algn="l">
              <a:defRPr sz="18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C30"/>
                </a:solidFill>
                <a:latin typeface="Arial"/>
                <a:ea typeface="Arial"/>
                <a:cs typeface="Arial"/>
              </a:rPr>
              <a:t>10.1007/s11042-023-17978-z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779421-0599-447C-AAEE-A114DCFC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577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C30"/>
                </a:solidFill>
                <a:latin typeface="Arial"/>
                <a:ea typeface="Arial"/>
                <a:cs typeface="Arial"/>
              </a:rPr>
              <a:t>Liakos et al. (2018). Sensors 18(8), 2674.</a:t>
            </a:r>
          </a:p>
          <a:p xmlns:a="http://schemas.openxmlformats.org/drawingml/2006/main">
            <a:pPr algn="l">
              <a:defRPr sz="1800" b="0">
                <a:solidFill>
                  <a:srgbClr val="23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C30"/>
                </a:solidFill>
                <a:latin typeface="Arial"/>
                <a:ea typeface="Arial"/>
                <a:cs typeface="Arial"/>
              </a:rPr>
              <a:t>10.3390/s18082674</a:t>
            </a:r>
          </a:p>
        </p:txBody>
      </p:sp>
    </p:spTree>
    <p:extLst>
      <p:ext uri="{BB962C8B-B14F-4D97-AF65-F5344CB8AC3E}">
        <p14:creationId xmlns:p14="http://schemas.microsoft.com/office/powerpoint/2010/main" val="17394199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2026-10-24T22:51:04.3760000Z</dcterms:created>
  <dcterms:modified xsi:type="dcterms:W3CDTF">2026-10-24T22:51:04.3760000Z</dcterms:modified>
</coreProperties>
</file>